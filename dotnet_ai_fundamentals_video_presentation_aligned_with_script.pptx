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CECE3-0194-41A5-81B7-FD1A8829B4A3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CB6FA-599F-4D9F-86E8-D5773E96C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5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CB6FA-599F-4D9F-86E8-D5773E96C74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77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54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88985"/>
                </a:solidFill>
                <a:latin typeface="Aptos"/>
              </a:rPr>
              <a:t>.NET +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37411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182F54"/>
                </a:solidFill>
                <a:latin typeface="Aptos"/>
              </a:rPr>
              <a:t>AI Fundamentals for .NET Developers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7129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232B37"/>
                </a:solidFill>
                <a:latin typeface="Aptos"/>
              </a:rPr>
              <a:t>From basic AI vocabulary to Generative AI, AI Agents and Agentic AI</a:t>
            </a:r>
            <a:r>
              <a:rPr lang="en-US" dirty="0">
                <a:solidFill>
                  <a:srgbClr val="232B37"/>
                </a:solidFill>
                <a:latin typeface="Aptos"/>
              </a:rPr>
              <a:t> By :</a:t>
            </a:r>
            <a:br>
              <a:rPr lang="en-US" sz="1800" b="0" dirty="0">
                <a:solidFill>
                  <a:srgbClr val="232B37"/>
                </a:solidFill>
                <a:latin typeface="Aptos"/>
              </a:rPr>
            </a:br>
            <a:r>
              <a:rPr lang="en-US" sz="1800" b="1" dirty="0">
                <a:solidFill>
                  <a:srgbClr val="FF0000"/>
                </a:solidFill>
                <a:latin typeface="Aptos"/>
              </a:rPr>
              <a:t>WebtechInfo</a:t>
            </a:r>
            <a:endParaRPr sz="1800" b="1" dirty="0">
              <a:solidFill>
                <a:srgbClr val="FF0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697A"/>
                </a:solidFill>
                <a:latin typeface="Aptos"/>
              </a:rPr>
              <a:t>YouTube Series • Episode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B66B5"/>
                </a:solidFill>
                <a:latin typeface="Aptos"/>
              </a:rPr>
              <a:t>Learn • Build • Explain • 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4BE29B-D51A-A0D6-077C-ADE8F7D9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101" y="420624"/>
            <a:ext cx="4000186" cy="60899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We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 beginner-friendly foundation for building AI-powered .NET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514600" cy="18288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46504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AI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2185416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Artificial Intelligence
Machine Learning
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00200"/>
            <a:ext cx="2514600" cy="18288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746504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167128"/>
            <a:ext cx="2185416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Models
Prompts
Tokens
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2514600" cy="18288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46504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AI building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67128"/>
            <a:ext cx="2185416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Embeddings
Vectors
Semantic search
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51460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746504"/>
            <a:ext cx="2185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Modern AI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167128"/>
            <a:ext cx="2185416" cy="1115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Agents
Tools
MCP
Memory
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You do not need to be an AI expert.</a:t>
            </a:r>
          </a:p>
          <a:p>
            <a:pPr>
              <a:spcAft>
                <a:spcPts val="10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C#, ASP.NET Core, Web API and SQL Server are a strong starting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AI enables computers to perform tasks that normally require human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00400" cy="246888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2871216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Human language
Questions
Speech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00400" cy="246888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7922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Recognize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212848"/>
            <a:ext cx="2871216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Images
Patterns
Objects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00400" cy="246888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792224"/>
            <a:ext cx="28712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Predict &amp; Assist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212848"/>
            <a:ext cx="2871216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Predictions
Recommendations
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HR example: “How many annual leave days do I have?”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AI can understand the question and help retrieve relevant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Traditional Applications vs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The key difference is where the behavior comes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937760" cy="310896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4650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Traditional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67128"/>
            <a:ext cx="4608576" cy="2395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Developer writes the rules.
Same input + same conditions → same output.
Example: If an email contains “lottery”, mark it as spam.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4937760" cy="310896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74650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3" y="2780216"/>
            <a:ext cx="4867656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Provide data and a learning algorithm.
The model learns patterns from examples.
Example: Estimate a house price from size, location and rooms.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Traditional systems are often deterministic.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Machine Learning systems are often probabilistic.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Deterministic vs Probabilistic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Probabilistic does not mean random or always incorrect.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265176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Deterministic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4608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Rules are explicitly written.
The same input generally produces the same output when conditions are unchanged.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4937760" cy="265176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Probabilistic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212848"/>
            <a:ext cx="4608576" cy="1938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The system uses learned patterns and probabilities.
Outputs may vary and are not guaranteed to be correct.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Use AI for understanding and language.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Use reliable C# business rules for calculations such as salary or payroll.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Deep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Deep Learning is a type of Machine Learning that uses neural networks with multiple layers.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834640" cy="23774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746504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67128"/>
            <a:ext cx="250545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The broad field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834640" cy="2377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1746504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167128"/>
            <a:ext cx="250545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Models learn patterns from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00200"/>
            <a:ext cx="2834640" cy="23774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71231" y="1746504"/>
            <a:ext cx="2505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167128"/>
            <a:ext cx="250545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Multi-layer neural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B37"/>
                </a:solidFill>
                <a:latin typeface="Aptos"/>
              </a:defRPr>
            </a:pPr>
            <a:r>
              <a:t>Common uses: image recognition, speech recognition, NLP, Generative AI and computer vision.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Generative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AI that creates new content from an instruction.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017520" cy="23774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268833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Create a C# ASP.NET Core Web API for employee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017520" cy="2377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6552" y="1792224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212848"/>
            <a:ext cx="268833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GPT
Llama
Qwen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645920"/>
            <a:ext cx="3017520" cy="23774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45552" y="1792224"/>
            <a:ext cx="26883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212848"/>
            <a:ext cx="268833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C# code
Email draft
Explanation
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Generative AI can create text, images, audio, video and computer code.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Always review generated code and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AI Model, LLM and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Three related terms used throughout the series.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474720" cy="27432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00784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21408"/>
            <a:ext cx="3145536" cy="2029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 trained computational system that processes inputs and produces outputs.
Examples: GPT, Llama, Qwen.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474720" cy="27432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700784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21408"/>
            <a:ext cx="31455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Large Language Model.
Designed to understand and generate human language: questions, summaries, translations and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554480"/>
            <a:ext cx="3474720" cy="27432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5592" y="1700784"/>
            <a:ext cx="3145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121408"/>
            <a:ext cx="31455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Natural Language Processing.
AI field focused on text and speech: classification, translation, sentiment and question answering.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An LLM does not automatically know private company data or every current fact.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RAG and tool calling help connect models to business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54" y="18854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Prompt and System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Prompts guide the model; system instructions establish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27432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46085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“Explain C# async and await in simple English.”
A prompt may contain a question, instruction, background, examples and output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4937760" cy="27432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212848"/>
            <a:ext cx="46085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“You are a helpful HR assistant. If you do not know the answer, say that you do not know.”
Defines the assistant’s role and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Prompt engineering means designing and improving prompts for more useful and consistent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Token and Context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Models process text in units and within a limited context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937760" cy="28346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4650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67128"/>
            <a:ext cx="4608576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 unit of text: a word, part of a word, punctuation or another piece.
Tokens affect context limits and usage cost.
A token is not always one word.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4937760" cy="28346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74650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Context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167128"/>
            <a:ext cx="4608576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Information available in a request:
• System instructions
• User question
• Conversation
• Retrieved documents
• Tool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If content is too large, split or summarize it.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This is one reason document chunking and RAG matter.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Embeddings, Vectors and Semantic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Text becomes numbers so we can compare meaning.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246120" cy="256032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465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2916936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“I want to apply for annual leave.”
“How can I request vacation days?”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246120" cy="256032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7465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Embedding /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167128"/>
            <a:ext cx="2916936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[0.12, -0.45,
 0.78, 0.21, …]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00200"/>
            <a:ext cx="3246120" cy="256032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9871" y="1746504"/>
            <a:ext cx="2916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167128"/>
            <a:ext cx="2916936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Find content with similar meaning.
Often used with a vector database.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Semantic search looks for meaning, not only exact keywords.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Keyword + vector search together is called hybrid search.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a Vector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 database designed to store and search vector representations.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108960" cy="23774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277977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Qdrant
Azure AI Search
PostgreSQL + pgvector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108960" cy="2377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792224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212848"/>
            <a:ext cx="27797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1,000 HR policy documents
Question: “What is the maternity leave policy?”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108960" cy="23774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28431" y="1792224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2212848"/>
            <a:ext cx="2779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Find semantically related sections and pass them to the language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RAG?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Retrieval-Augmented Generation combines retrieval with text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22860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1.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21408"/>
            <a:ext cx="223113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User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560320" cy="22860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4787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2. 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121408"/>
            <a:ext cx="223113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Search policy 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22860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3. Augment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21408"/>
            <a:ext cx="223113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Add relevant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554480"/>
            <a:ext cx="256032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3427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4.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121408"/>
            <a:ext cx="223113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Answer using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RAG helps applications use private or current information without retraining the model.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Typical stack: ASP.NET Core + embedding model + vector database + LLM.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a Hallucination?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An AI hallucination is incorrect or unsupported information presented with unjustified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265176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4608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The model does not have the actual company leave policy but gives a specific number of leave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4937760" cy="265176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36792" y="1792224"/>
            <a:ext cx="46085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Ways to reduce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212848"/>
            <a:ext cx="4608576" cy="1938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Reliable source data
RAG and tool calling
Validation
Clear instructions
Human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Do not blindly trust AI-generated answers in financial, legal, HR or other sensitive processes.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an AI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An AI agent uses a model, tools and steps to work toward a goal.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2468880" cy="23774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4650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67128"/>
            <a:ext cx="2139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Check my leave balance and explain the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00200"/>
            <a:ext cx="2468880" cy="2377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74650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67128"/>
            <a:ext cx="213969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Interpret the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00200"/>
            <a:ext cx="2468880" cy="23774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74650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167128"/>
            <a:ext cx="213969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Choose and use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46888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88552" y="1746504"/>
            <a:ext cx="21396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Respond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167128"/>
            <a:ext cx="2139696" cy="1664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Use results to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Possible tools: Employee API, leave-balance API, policy search and database.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What Is Tool Calling?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Tool calling connects an AI model to approved application functions.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60320" cy="256032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1.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2231136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Ask about leave balance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560320" cy="256032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2.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121408"/>
            <a:ext cx="2231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Requests the leave-balance 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560320" cy="256032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3.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21408"/>
            <a:ext cx="2231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Validates and executes C# method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554480"/>
            <a:ext cx="256032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700784"/>
            <a:ext cx="22311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4.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121408"/>
            <a:ext cx="2231136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Uses the result to respond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Example function: GetEmployeeLeaveBalance(employeeId)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The model cannot execute a method automatically; the application must expose and govern the tool.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Memory, MCP and Multi-Agent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Modern AI applications connect models with context, tools and specialized agents.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43200" cy="28346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655063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75688"/>
            <a:ext cx="24140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Short-term: current task or conversation.
Long-term: saved preferences or facts.
Consider privacy, security and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743200" cy="28346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6472" y="1655063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075688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Model Context Protocol.
A standardized way to connect AI applications with tools and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2743200" cy="28346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655063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075688"/>
            <a:ext cx="24140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Specialized agents work together.
HR agent • Payroll agent • Leave agent • Approval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508760"/>
            <a:ext cx="19202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20072" y="1655063"/>
            <a:ext cx="15910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HITL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2075688"/>
            <a:ext cx="15910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Human approval for sensitive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Production AI: MLOps, Observability, Evaluation and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Building AI systems requires more than connecting a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283464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00784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MLOps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21408"/>
            <a:ext cx="2276856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Training
Evaluation
Deployment
Monitoring
Versioning
Retraining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06040" cy="28346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700784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121408"/>
            <a:ext cx="2276856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Logs
Traces
Metrics
Token usage
Tool calls
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2606040" cy="283464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00784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21408"/>
            <a:ext cx="2276856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Correctness
Relevance
Right documents
Rule following
Privacy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554480"/>
            <a:ext cx="23317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71432" y="1700784"/>
            <a:ext cx="20025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121408"/>
            <a:ext cx="20025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Additional training on a specific dataset.
Different from RAG.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  <a:latin typeface="Aptos"/>
              </a:defRPr>
            </a:pPr>
            <a:r>
              <a:t>For many .NET developers, start with existing models, prompting, RAG and tool calling before advanced training.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How These Concepts Fit into .NET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 simple architecture for an AI-powered enterprise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377440" cy="9144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63624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204825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Blazor • React • Mobile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2377440" cy="123444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752344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dirty="0">
                <a:solidFill>
                  <a:srgbClr val="188985"/>
                </a:solidFill>
                <a:latin typeface="Aptos"/>
              </a:rPr>
              <a:t>ASP.NET Core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72968"/>
            <a:ext cx="20482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Auth • Business endpoints •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4012216"/>
            <a:ext cx="2377440" cy="9144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941064"/>
            <a:ext cx="2048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AI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61688"/>
            <a:ext cx="2048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232B37"/>
                </a:solidFill>
                <a:latin typeface="Aptos"/>
              </a:rPr>
              <a:t>IChatClient</a:t>
            </a:r>
            <a:r>
              <a:rPr sz="1400" b="0" dirty="0">
                <a:solidFill>
                  <a:srgbClr val="232B37"/>
                </a:solidFill>
                <a:latin typeface="Aptos"/>
              </a:rPr>
              <a:t> • Agent • Prompting • Tool calling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828800"/>
            <a:ext cx="2743200" cy="1090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05072" y="1975104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Knowledge +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2395728"/>
            <a:ext cx="24140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RAG • Vector DB • MCP • Business 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3108960" cy="10901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79792" y="1975104"/>
            <a:ext cx="277977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Enterprise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2395728"/>
            <a:ext cx="27797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SQL Server • HR system • Files •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5760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The AI layer connects user requests to models, retrieved knowledge and business capabilities.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Generative AI vs AI Agents vs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Easy way to remember the difference.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27432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746504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Generative AI → Creates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67128"/>
            <a:ext cx="30540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Generates content from instructions.
Example: Generate a C# employee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27432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746504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AI Agent → 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67128"/>
            <a:ext cx="30540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Uses a model and tools to complete a task.
Example: Check leave balance through an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00200"/>
            <a:ext cx="3383280" cy="27432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746504"/>
            <a:ext cx="305409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Agentic AI → Achieves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167128"/>
            <a:ext cx="305409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Works toward a goal through multiple actions and workflows.
Example: Collect data, validate, request approval and send a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Agentic AI: A Goal-Driven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Agentic systems can plan, act, check results and involve people.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691640" cy="22860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700784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21408"/>
            <a:ext cx="13624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Prepare monthly attendance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554480"/>
            <a:ext cx="1691640" cy="22860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2" y="1700784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121408"/>
            <a:ext cx="1362456" cy="1572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Decide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1691640" cy="228600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700784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121408"/>
            <a:ext cx="136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Read and calculate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54480"/>
            <a:ext cx="1691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700784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21408"/>
            <a:ext cx="136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Validate and handle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54480"/>
            <a:ext cx="1691640" cy="228600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700784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121408"/>
            <a:ext cx="136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Ask manager when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59" y="1554480"/>
            <a:ext cx="1493677" cy="228600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60152" y="1700784"/>
            <a:ext cx="676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1" y="2121408"/>
            <a:ext cx="8577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Deliver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Our .NET AI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From simple prompts to production-ready AI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691640" cy="256032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55063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1. Generate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75688"/>
            <a:ext cx="136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Call an LLM from C#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508760"/>
            <a:ext cx="1691640" cy="256032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2" y="1655063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2.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2075688"/>
            <a:ext cx="13624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Prompts and structured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1691640" cy="2560320"/>
          </a:xfrm>
          <a:prstGeom prst="roundRect">
            <a:avLst/>
          </a:prstGeom>
          <a:solidFill>
            <a:srgbClr val="FFEFDB"/>
          </a:solidFill>
          <a:ln w="15240">
            <a:solidFill>
              <a:srgbClr val="D37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655063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D37D23"/>
                </a:solidFill>
                <a:latin typeface="Aptos"/>
              </a:rPr>
              <a:t>3. 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075688"/>
            <a:ext cx="13624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Embeddings, search and 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08760"/>
            <a:ext cx="169164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2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655063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2F54"/>
                </a:solidFill>
                <a:latin typeface="Aptos"/>
              </a:rPr>
              <a:t>4.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075688"/>
            <a:ext cx="13624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Tools and AI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508760"/>
            <a:ext cx="1691640" cy="2560320"/>
          </a:xfrm>
          <a:prstGeom prst="roundRect">
            <a:avLst/>
          </a:prstGeom>
          <a:solidFill>
            <a:srgbClr val="E1F5F2"/>
          </a:solidFill>
          <a:ln w="15240">
            <a:solidFill>
              <a:srgbClr val="188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1655063"/>
            <a:ext cx="13624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88985"/>
                </a:solidFill>
                <a:latin typeface="Aptos"/>
              </a:rPr>
              <a:t>5. Orchestrate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075688"/>
            <a:ext cx="13624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Workflows and multi-agent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95560" y="1508760"/>
            <a:ext cx="1005840" cy="2560320"/>
          </a:xfrm>
          <a:prstGeom prst="roundRect">
            <a:avLst/>
          </a:prstGeom>
          <a:solidFill>
            <a:srgbClr val="E5EFFC"/>
          </a:solidFill>
          <a:ln w="15240">
            <a:solidFill>
              <a:srgbClr val="2B66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60152" y="1655063"/>
            <a:ext cx="676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2B66B5"/>
                </a:solidFill>
                <a:latin typeface="Aptos"/>
              </a:rPr>
              <a:t>6. 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0152" y="2075688"/>
            <a:ext cx="676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B37"/>
                </a:solidFill>
                <a:latin typeface="Aptos"/>
              </a:rPr>
              <a:t>Deploy, monitor and secure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Next episode: Set up the .NET AI development environment and build your first C# AI application.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82F54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C697A"/>
                </a:solidFill>
                <a:latin typeface="Aptos"/>
              </a:rPr>
              <a:t>You do not need to memorize every term today. Understand the basic idea behind each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AI • Machine Learning • Deep Learning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Generative AI • AI Model • LLM • NLP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Prompt • System Prompt • Token • Context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Embedding • Vector • Vector Database • Semantic Search • RAG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Hallucination • AI Agent • Tool Calling • Memory • MCP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Multi-Agent AI • Human-in-the-Loop • MLOps • Observability • Evaluation • Fine-Tuning</a:t>
            </a:r>
          </a:p>
          <a:p>
            <a:pPr>
              <a:spcAft>
                <a:spcPts val="1000"/>
              </a:spcAft>
              <a:defRPr sz="2200">
                <a:solidFill>
                  <a:srgbClr val="232B37"/>
                </a:solidFill>
                <a:latin typeface="Aptos"/>
              </a:defRPr>
            </a:pPr>
            <a:r>
              <a:t>Next: build a simple AI application using C# and a language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697A"/>
                </a:solidFill>
                <a:latin typeface="Aptos"/>
              </a:rPr>
              <a:t>.NET + AI Development  |  Episode 1  |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1995</Words>
  <Application>Microsoft Office PowerPoint</Application>
  <PresentationFormat>Widescreen</PresentationFormat>
  <Paragraphs>251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KUMAR</cp:lastModifiedBy>
  <cp:revision>7</cp:revision>
  <dcterms:created xsi:type="dcterms:W3CDTF">2013-01-27T09:14:16Z</dcterms:created>
  <dcterms:modified xsi:type="dcterms:W3CDTF">2026-09-16T01:32:13Z</dcterms:modified>
  <cp:category/>
</cp:coreProperties>
</file>